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ricolage Grotesque" panose="020B0604020202020204" charset="0"/>
      <p:regular r:id="rId8"/>
    </p:embeddedFont>
    <p:embeddedFont>
      <p:font typeface="Bricolage Grotesque Bold" panose="020B0604020202020204" charset="0"/>
      <p:regular r:id="rId9"/>
    </p:embeddedFont>
    <p:embeddedFont>
      <p:font typeface="Bricolage Grotesque Semi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94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411700" y="3857625"/>
            <a:ext cx="666750" cy="3429000"/>
          </a:xfrm>
          <a:custGeom>
            <a:avLst/>
            <a:gdLst/>
            <a:ahLst/>
            <a:cxnLst/>
            <a:rect l="l" t="t" r="r" b="b"/>
            <a:pathLst>
              <a:path w="666750" h="3429000">
                <a:moveTo>
                  <a:pt x="0" y="0"/>
                </a:moveTo>
                <a:lnTo>
                  <a:pt x="666750" y="0"/>
                </a:lnTo>
                <a:lnTo>
                  <a:pt x="6667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4944" y="736919"/>
            <a:ext cx="8247888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9"/>
              </a:lnSpc>
            </a:pPr>
            <a:r>
              <a:rPr lang="en-US" sz="66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INDIA HACKATHON  2026</a:t>
            </a:r>
          </a:p>
        </p:txBody>
      </p:sp>
      <p:sp>
        <p:nvSpPr>
          <p:cNvPr id="5" name="Freeform 5"/>
          <p:cNvSpPr/>
          <p:nvPr/>
        </p:nvSpPr>
        <p:spPr>
          <a:xfrm>
            <a:off x="3914775" y="3000375"/>
            <a:ext cx="228600" cy="1285875"/>
          </a:xfrm>
          <a:custGeom>
            <a:avLst/>
            <a:gdLst/>
            <a:ahLst/>
            <a:cxnLst/>
            <a:rect l="l" t="t" r="r" b="b"/>
            <a:pathLst>
              <a:path w="228600" h="1285875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829550" y="3000375"/>
            <a:ext cx="228600" cy="1285875"/>
          </a:xfrm>
          <a:custGeom>
            <a:avLst/>
            <a:gdLst/>
            <a:ahLst/>
            <a:cxnLst/>
            <a:rect l="l" t="t" r="r" b="b"/>
            <a:pathLst>
              <a:path w="228600" h="1285875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7700" y="4286250"/>
            <a:ext cx="9810750" cy="219075"/>
          </a:xfrm>
          <a:custGeom>
            <a:avLst/>
            <a:gdLst/>
            <a:ahLst/>
            <a:cxnLst/>
            <a:rect l="l" t="t" r="r" b="b"/>
            <a:pathLst>
              <a:path w="9810750" h="219075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94944" y="4696396"/>
            <a:ext cx="10625328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3"/>
              </a:lnSpc>
            </a:pPr>
            <a:r>
              <a:rPr lang="en-US" sz="5952" b="1" spc="-178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AI-Powered </a:t>
            </a:r>
            <a:r>
              <a:rPr lang="en-US" sz="5952" b="1" spc="-178">
                <a:solidFill>
                  <a:srgbClr val="FF63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Automatic</a:t>
            </a:r>
            <a:r>
              <a:rPr lang="en-US" sz="5952" b="1" spc="-178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</a:p>
          <a:p>
            <a:pPr algn="l">
              <a:lnSpc>
                <a:spcPts val="7143"/>
              </a:lnSpc>
            </a:pPr>
            <a:r>
              <a:rPr lang="en-US" sz="5952" b="1" spc="-178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Railway Block Planning Copilot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944" y="6899996"/>
            <a:ext cx="9162288" cy="53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663" b="1">
                <a:solidFill>
                  <a:srgbClr val="001C4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Natural Language “What-If” Decision Support System powered by Google OR-Tools CP-SAT + LLM for Indian Railways Section Controllers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240000" y="209550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8572500"/>
            <a:ext cx="15240000" cy="1714500"/>
          </a:xfrm>
          <a:custGeom>
            <a:avLst/>
            <a:gdLst/>
            <a:ahLst/>
            <a:cxnLst/>
            <a:rect l="l" t="t" r="r" b="b"/>
            <a:pathLst>
              <a:path w="15240000" h="1714500">
                <a:moveTo>
                  <a:pt x="0" y="0"/>
                </a:moveTo>
                <a:lnTo>
                  <a:pt x="15240000" y="0"/>
                </a:lnTo>
                <a:lnTo>
                  <a:pt x="152400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94944" y="9340029"/>
            <a:ext cx="3054096" cy="39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939" b="1" spc="-8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</a:t>
            </a:r>
            <a:r>
              <a:rPr lang="en-US" sz="2939" b="1" spc="-88">
                <a:solidFill>
                  <a:srgbClr val="FF63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ForceSense</a:t>
            </a:r>
          </a:p>
        </p:txBody>
      </p:sp>
      <p:sp>
        <p:nvSpPr>
          <p:cNvPr id="15" name="Freeform 15"/>
          <p:cNvSpPr/>
          <p:nvPr/>
        </p:nvSpPr>
        <p:spPr>
          <a:xfrm>
            <a:off x="8486775" y="9210675"/>
            <a:ext cx="5448300" cy="866775"/>
          </a:xfrm>
          <a:custGeom>
            <a:avLst/>
            <a:gdLst/>
            <a:ahLst/>
            <a:cxnLst/>
            <a:rect l="l" t="t" r="r" b="b"/>
            <a:pathLst>
              <a:path w="5448300" h="866775">
                <a:moveTo>
                  <a:pt x="0" y="0"/>
                </a:moveTo>
                <a:lnTo>
                  <a:pt x="5448300" y="0"/>
                </a:lnTo>
                <a:lnTo>
                  <a:pt x="5448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716000" y="8572500"/>
            <a:ext cx="1524000" cy="1714500"/>
          </a:xfrm>
          <a:custGeom>
            <a:avLst/>
            <a:gdLst/>
            <a:ahLst/>
            <a:cxnLst/>
            <a:rect l="l" t="t" r="r" b="b"/>
            <a:pathLst>
              <a:path w="1524000" h="1714500">
                <a:moveTo>
                  <a:pt x="0" y="0"/>
                </a:moveTo>
                <a:lnTo>
                  <a:pt x="1524000" y="0"/>
                </a:lnTo>
                <a:lnTo>
                  <a:pt x="15240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94944" y="3109011"/>
            <a:ext cx="2706624" cy="32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017" b="1" dirty="0">
                <a:solidFill>
                  <a:srgbClr val="001C4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Problem Statement ID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4944" y="3459981"/>
            <a:ext cx="1225296" cy="34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 b="1" dirty="0">
                <a:solidFill>
                  <a:srgbClr val="FF63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SIH26027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52544" y="3099936"/>
            <a:ext cx="859536" cy="34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 b="1">
                <a:solidFill>
                  <a:srgbClr val="001C4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Theme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52544" y="3476866"/>
            <a:ext cx="3255264" cy="65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017" b="1">
                <a:solidFill>
                  <a:srgbClr val="FF63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Smart Automation / Transportation &amp; Logistics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21040" y="3118311"/>
            <a:ext cx="1499616" cy="31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7"/>
              </a:lnSpc>
            </a:pPr>
            <a:r>
              <a:rPr lang="en-US" sz="1982" b="1">
                <a:solidFill>
                  <a:srgbClr val="001C4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PS Category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21040" y="3469056"/>
            <a:ext cx="1133856" cy="326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017" b="1">
                <a:solidFill>
                  <a:srgbClr val="FF63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Software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59200" y="557941"/>
            <a:ext cx="1499616" cy="50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805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INDIA HACKATHON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916400" y="1170173"/>
            <a:ext cx="585216" cy="26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2026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46EBF19-0BFC-56AB-0804-1C308717C4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79758" y="2061044"/>
            <a:ext cx="5396484" cy="5716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982450" cy="857250"/>
          </a:xfrm>
          <a:custGeom>
            <a:avLst/>
            <a:gdLst/>
            <a:ahLst/>
            <a:cxnLst/>
            <a:rect l="l" t="t" r="r" b="b"/>
            <a:pathLst>
              <a:path w="11982450" h="857250">
                <a:moveTo>
                  <a:pt x="0" y="0"/>
                </a:moveTo>
                <a:lnTo>
                  <a:pt x="11982450" y="0"/>
                </a:lnTo>
                <a:lnTo>
                  <a:pt x="11982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49550" y="209550"/>
            <a:ext cx="1104900" cy="1295400"/>
          </a:xfrm>
          <a:custGeom>
            <a:avLst/>
            <a:gdLst/>
            <a:ahLst/>
            <a:cxnLst/>
            <a:rect l="l" t="t" r="r" b="b"/>
            <a:pathLst>
              <a:path w="1104900" h="12954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78656" y="570928"/>
            <a:ext cx="13898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734" b="1" spc="-34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INDIA HACKATHON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" y="1156254"/>
            <a:ext cx="2468880" cy="45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3471" b="1" spc="-69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IDEA TITLE –</a:t>
            </a:r>
          </a:p>
        </p:txBody>
      </p:sp>
      <p:sp>
        <p:nvSpPr>
          <p:cNvPr id="7" name="Freeform 7"/>
          <p:cNvSpPr/>
          <p:nvPr/>
        </p:nvSpPr>
        <p:spPr>
          <a:xfrm>
            <a:off x="647700" y="2781300"/>
            <a:ext cx="8286750" cy="1504950"/>
          </a:xfrm>
          <a:custGeom>
            <a:avLst/>
            <a:gdLst/>
            <a:ahLst/>
            <a:cxnLst/>
            <a:rect l="l" t="t" r="r" b="b"/>
            <a:pathLst>
              <a:path w="8286750" h="1504950">
                <a:moveTo>
                  <a:pt x="0" y="0"/>
                </a:moveTo>
                <a:lnTo>
                  <a:pt x="8286750" y="0"/>
                </a:lnTo>
                <a:lnTo>
                  <a:pt x="8286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6775" y="300037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07008" y="3086220"/>
            <a:ext cx="6711696" cy="103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Controllers ask in plain English:</a:t>
            </a:r>
          </a:p>
          <a:p>
            <a:pPr algn="l">
              <a:lnSpc>
                <a:spcPts val="2715"/>
              </a:lnSpc>
            </a:pPr>
            <a:r>
              <a:rPr lang="en-US" sz="2088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“Schedule a 3-hour block between Jhansi and Kanpur tomorrow afternoon with under 15 mins delay.”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7700" y="4286250"/>
            <a:ext cx="8286750" cy="1504950"/>
          </a:xfrm>
          <a:custGeom>
            <a:avLst/>
            <a:gdLst/>
            <a:ahLst/>
            <a:cxnLst/>
            <a:rect l="l" t="t" r="r" b="b"/>
            <a:pathLst>
              <a:path w="8286750" h="1504950">
                <a:moveTo>
                  <a:pt x="0" y="0"/>
                </a:moveTo>
                <a:lnTo>
                  <a:pt x="8286750" y="0"/>
                </a:lnTo>
                <a:lnTo>
                  <a:pt x="8286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6775" y="449580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07008" y="4737249"/>
            <a:ext cx="6053328" cy="65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053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ILP / CP-SAT solver finds mathematically optimal train holds, siding allocations and timings.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7700" y="5781675"/>
            <a:ext cx="8286750" cy="1504950"/>
          </a:xfrm>
          <a:custGeom>
            <a:avLst/>
            <a:gdLst/>
            <a:ahLst/>
            <a:cxnLst/>
            <a:rect l="l" t="t" r="r" b="b"/>
            <a:pathLst>
              <a:path w="8286750" h="1504950">
                <a:moveTo>
                  <a:pt x="0" y="0"/>
                </a:moveTo>
                <a:lnTo>
                  <a:pt x="8286750" y="0"/>
                </a:lnTo>
                <a:lnTo>
                  <a:pt x="8286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6775" y="6000750"/>
            <a:ext cx="228600" cy="857250"/>
          </a:xfrm>
          <a:custGeom>
            <a:avLst/>
            <a:gdLst/>
            <a:ahLst/>
            <a:cxnLst/>
            <a:rect l="l" t="t" r="r" b="b"/>
            <a:pathLst>
              <a:path w="228600" h="85725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7008" y="6177429"/>
            <a:ext cx="6711696" cy="65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053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LLM converts the solution into authentic Indian Railways operational notices and controller rationale.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7700" y="7286625"/>
            <a:ext cx="8286750" cy="1504950"/>
          </a:xfrm>
          <a:custGeom>
            <a:avLst/>
            <a:gdLst/>
            <a:ahLst/>
            <a:cxnLst/>
            <a:rect l="l" t="t" r="r" b="b"/>
            <a:pathLst>
              <a:path w="8286750" h="1504950">
                <a:moveTo>
                  <a:pt x="0" y="0"/>
                </a:moveTo>
                <a:lnTo>
                  <a:pt x="8286750" y="0"/>
                </a:lnTo>
                <a:lnTo>
                  <a:pt x="8286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66775" y="7496175"/>
            <a:ext cx="228600" cy="866775"/>
          </a:xfrm>
          <a:custGeom>
            <a:avLst/>
            <a:gdLst/>
            <a:ahLst/>
            <a:cxnLst/>
            <a:rect l="l" t="t" r="r" b="b"/>
            <a:pathLst>
              <a:path w="228600" h="866775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07008" y="7588497"/>
            <a:ext cx="5760720" cy="6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88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One-click approval orslider-based fine-tuning by the Section Controller.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229850" y="1495425"/>
            <a:ext cx="5229225" cy="1295400"/>
          </a:xfrm>
          <a:custGeom>
            <a:avLst/>
            <a:gdLst/>
            <a:ahLst/>
            <a:cxnLst/>
            <a:rect l="l" t="t" r="r" b="b"/>
            <a:pathLst>
              <a:path w="5229225" h="1295400">
                <a:moveTo>
                  <a:pt x="0" y="0"/>
                </a:moveTo>
                <a:lnTo>
                  <a:pt x="5229225" y="0"/>
                </a:lnTo>
                <a:lnTo>
                  <a:pt x="5229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155680" y="1823828"/>
            <a:ext cx="3346704" cy="62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947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Natural Language</a:t>
            </a:r>
          </a:p>
          <a:p>
            <a:pPr algn="l">
              <a:lnSpc>
                <a:spcPts val="2531"/>
              </a:lnSpc>
            </a:pPr>
            <a:r>
              <a:rPr lang="en-US" sz="1947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Query / Emergency Request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401550" y="257175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229850" y="3000375"/>
            <a:ext cx="5229225" cy="1285875"/>
          </a:xfrm>
          <a:custGeom>
            <a:avLst/>
            <a:gdLst/>
            <a:ahLst/>
            <a:cxnLst/>
            <a:rect l="l" t="t" r="r" b="b"/>
            <a:pathLst>
              <a:path w="5229225" h="1285875">
                <a:moveTo>
                  <a:pt x="0" y="0"/>
                </a:moveTo>
                <a:lnTo>
                  <a:pt x="5229225" y="0"/>
                </a:lnTo>
                <a:lnTo>
                  <a:pt x="5229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704320" y="3264008"/>
            <a:ext cx="2194560" cy="62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947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NLP Parsing +</a:t>
            </a:r>
          </a:p>
          <a:p>
            <a:pPr algn="l">
              <a:lnSpc>
                <a:spcPts val="2531"/>
              </a:lnSpc>
            </a:pPr>
            <a:r>
              <a:rPr lang="en-US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Schema Validation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401550" y="4067175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29850" y="4495800"/>
            <a:ext cx="5229225" cy="1295400"/>
          </a:xfrm>
          <a:custGeom>
            <a:avLst/>
            <a:gdLst/>
            <a:ahLst/>
            <a:cxnLst/>
            <a:rect l="l" t="t" r="r" b="b"/>
            <a:pathLst>
              <a:path w="5229225" h="1295400">
                <a:moveTo>
                  <a:pt x="0" y="0"/>
                </a:moveTo>
                <a:lnTo>
                  <a:pt x="5229225" y="0"/>
                </a:lnTo>
                <a:lnTo>
                  <a:pt x="5229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716768" y="4714250"/>
            <a:ext cx="4096512" cy="62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5"/>
              </a:lnSpc>
            </a:pPr>
            <a:r>
              <a:rPr lang="en-US" sz="1911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Google OR-Tools</a:t>
            </a:r>
          </a:p>
          <a:p>
            <a:pPr algn="l">
              <a:lnSpc>
                <a:spcPts val="2485"/>
              </a:lnSpc>
            </a:pPr>
            <a:r>
              <a:rPr lang="en-US" sz="1911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CP-SAT Mathematical Optimization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401550" y="55721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29850" y="5781675"/>
            <a:ext cx="5229225" cy="1504950"/>
          </a:xfrm>
          <a:custGeom>
            <a:avLst/>
            <a:gdLst/>
            <a:ahLst/>
            <a:cxnLst/>
            <a:rect l="l" t="t" r="r" b="b"/>
            <a:pathLst>
              <a:path w="5229225" h="1504950">
                <a:moveTo>
                  <a:pt x="0" y="0"/>
                </a:moveTo>
                <a:lnTo>
                  <a:pt x="5229225" y="0"/>
                </a:lnTo>
                <a:lnTo>
                  <a:pt x="5229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917936" y="6186504"/>
            <a:ext cx="3767328" cy="64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1982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Human-Readable Explanation +</a:t>
            </a:r>
          </a:p>
          <a:p>
            <a:pPr algn="l">
              <a:lnSpc>
                <a:spcPts val="2577"/>
              </a:lnSpc>
            </a:pPr>
            <a:r>
              <a:rPr lang="en-US" sz="1982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T/409 Control Memo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401550" y="7067550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229850" y="7286625"/>
            <a:ext cx="5229225" cy="1285875"/>
          </a:xfrm>
          <a:custGeom>
            <a:avLst/>
            <a:gdLst/>
            <a:ahLst/>
            <a:cxnLst/>
            <a:rect l="l" t="t" r="r" b="b"/>
            <a:pathLst>
              <a:path w="5229225" h="1285875">
                <a:moveTo>
                  <a:pt x="0" y="0"/>
                </a:moveTo>
                <a:lnTo>
                  <a:pt x="5229225" y="0"/>
                </a:lnTo>
                <a:lnTo>
                  <a:pt x="5229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1411712" y="7636971"/>
            <a:ext cx="2761488" cy="64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1982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One-Click Approval /</a:t>
            </a:r>
          </a:p>
          <a:p>
            <a:pPr algn="l">
              <a:lnSpc>
                <a:spcPts val="2577"/>
              </a:lnSpc>
            </a:pPr>
            <a:r>
              <a:rPr lang="en-US" sz="1982" b="1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Parameter Adjustment</a:t>
            </a:r>
          </a:p>
        </p:txBody>
      </p:sp>
      <p:sp>
        <p:nvSpPr>
          <p:cNvPr id="33" name="Freeform 33"/>
          <p:cNvSpPr/>
          <p:nvPr/>
        </p:nvSpPr>
        <p:spPr>
          <a:xfrm>
            <a:off x="0" y="8782050"/>
            <a:ext cx="18288000" cy="1504950"/>
          </a:xfrm>
          <a:custGeom>
            <a:avLst/>
            <a:gdLst/>
            <a:ahLst/>
            <a:cxnLst/>
            <a:rect l="l" t="t" r="r" b="b"/>
            <a:pathLst>
              <a:path w="18288000" h="1504950">
                <a:moveTo>
                  <a:pt x="0" y="0"/>
                </a:moveTo>
                <a:lnTo>
                  <a:pt x="18288000" y="0"/>
                </a:lnTo>
                <a:lnTo>
                  <a:pt x="18288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6305550" y="9210675"/>
            <a:ext cx="8067675" cy="866775"/>
          </a:xfrm>
          <a:custGeom>
            <a:avLst/>
            <a:gdLst/>
            <a:ahLst/>
            <a:cxnLst/>
            <a:rect l="l" t="t" r="r" b="b"/>
            <a:pathLst>
              <a:path w="8067675" h="866775">
                <a:moveTo>
                  <a:pt x="0" y="0"/>
                </a:moveTo>
                <a:lnTo>
                  <a:pt x="8067675" y="0"/>
                </a:lnTo>
                <a:lnTo>
                  <a:pt x="806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31520" y="9447576"/>
            <a:ext cx="3657600" cy="43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00" b="1" spc="-69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</a:t>
            </a:r>
            <a:r>
              <a:rPr lang="en-US" sz="2800" b="1" spc="-69" dirty="0" err="1">
                <a:solidFill>
                  <a:srgbClr val="F4701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ForceSense</a:t>
            </a:r>
            <a:endParaRPr lang="en-US" sz="2800" b="1" spc="-69" dirty="0">
              <a:solidFill>
                <a:srgbClr val="F4701C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4144625" y="8782050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713232" y="1670299"/>
            <a:ext cx="7607808" cy="92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5"/>
              </a:lnSpc>
            </a:pPr>
            <a:r>
              <a:rPr lang="en-US" sz="6945" b="1" spc="-138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Proposed </a:t>
            </a:r>
            <a:r>
              <a:rPr lang="en-US" sz="6945" b="1" spc="-138">
                <a:solidFill>
                  <a:srgbClr val="F4701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982450" cy="647700"/>
          </a:xfrm>
          <a:custGeom>
            <a:avLst/>
            <a:gdLst/>
            <a:ahLst/>
            <a:cxnLst/>
            <a:rect l="l" t="t" r="r" b="b"/>
            <a:pathLst>
              <a:path w="11982450" h="647700">
                <a:moveTo>
                  <a:pt x="0" y="0"/>
                </a:moveTo>
                <a:lnTo>
                  <a:pt x="11982450" y="0"/>
                </a:lnTo>
                <a:lnTo>
                  <a:pt x="1198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21792" y="931067"/>
            <a:ext cx="539496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3600" dirty="0">
                <a:solidFill>
                  <a:srgbClr val="001C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TECHNICAL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368" y="1491128"/>
            <a:ext cx="9290304" cy="32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AI-powered optimization + natural language interface + enterprise visualization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5449550" y="209550"/>
            <a:ext cx="1104900" cy="1295400"/>
          </a:xfrm>
          <a:custGeom>
            <a:avLst/>
            <a:gdLst/>
            <a:ahLst/>
            <a:cxnLst/>
            <a:rect l="l" t="t" r="r" b="b"/>
            <a:pathLst>
              <a:path w="1104900" h="12954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678656" y="536829"/>
            <a:ext cx="1389888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769">
                <a:solidFill>
                  <a:srgbClr val="001C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SMART INDIA HACKATHON 2026</a:t>
            </a:r>
          </a:p>
        </p:txBody>
      </p:sp>
      <p:sp>
        <p:nvSpPr>
          <p:cNvPr id="8" name="Freeform 8"/>
          <p:cNvSpPr/>
          <p:nvPr/>
        </p:nvSpPr>
        <p:spPr>
          <a:xfrm>
            <a:off x="428625" y="1924050"/>
            <a:ext cx="3276600" cy="1724025"/>
          </a:xfrm>
          <a:custGeom>
            <a:avLst/>
            <a:gdLst/>
            <a:ahLst/>
            <a:cxnLst/>
            <a:rect l="l" t="t" r="r" b="b"/>
            <a:pathLst>
              <a:path w="3276600" h="1724025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25296" y="2286881"/>
            <a:ext cx="1719072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6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Google OR-Tools</a:t>
            </a:r>
          </a:p>
          <a:p>
            <a:pPr algn="ctr">
              <a:lnSpc>
                <a:spcPts val="2428"/>
              </a:lnSpc>
            </a:pPr>
            <a:r>
              <a:rPr lang="en-US" sz="16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CP-SAT</a:t>
            </a:r>
          </a:p>
        </p:txBody>
      </p:sp>
      <p:sp>
        <p:nvSpPr>
          <p:cNvPr id="10" name="Freeform 10"/>
          <p:cNvSpPr/>
          <p:nvPr/>
        </p:nvSpPr>
        <p:spPr>
          <a:xfrm>
            <a:off x="3695700" y="1924050"/>
            <a:ext cx="3276600" cy="1724025"/>
          </a:xfrm>
          <a:custGeom>
            <a:avLst/>
            <a:gdLst/>
            <a:ahLst/>
            <a:cxnLst/>
            <a:rect l="l" t="t" r="r" b="b"/>
            <a:pathLst>
              <a:path w="3276600" h="1724025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498848" y="2177222"/>
            <a:ext cx="1719072" cy="93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1769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Large Language Model (Gemini / any LLM)</a:t>
            </a:r>
          </a:p>
        </p:txBody>
      </p:sp>
      <p:sp>
        <p:nvSpPr>
          <p:cNvPr id="12" name="Freeform 12"/>
          <p:cNvSpPr/>
          <p:nvPr/>
        </p:nvSpPr>
        <p:spPr>
          <a:xfrm>
            <a:off x="6902958" y="1829317"/>
            <a:ext cx="3276600" cy="1724025"/>
          </a:xfrm>
          <a:custGeom>
            <a:avLst/>
            <a:gdLst/>
            <a:ahLst/>
            <a:cxnLst/>
            <a:rect l="l" t="t" r="r" b="b"/>
            <a:pathLst>
              <a:path w="3276600" h="1724025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409474" y="1865928"/>
            <a:ext cx="3276600" cy="1724025"/>
          </a:xfrm>
          <a:custGeom>
            <a:avLst/>
            <a:gdLst/>
            <a:ahLst/>
            <a:cxnLst/>
            <a:rect l="l" t="t" r="r" b="b"/>
            <a:pathLst>
              <a:path w="3276600" h="1724025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277850" y="1924050"/>
            <a:ext cx="3276600" cy="1724025"/>
          </a:xfrm>
          <a:custGeom>
            <a:avLst/>
            <a:gdLst/>
            <a:ahLst/>
            <a:cxnLst/>
            <a:rect l="l" t="t" r="r" b="b"/>
            <a:pathLst>
              <a:path w="3276600" h="1724025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898880" y="2314105"/>
            <a:ext cx="2231136" cy="55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628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Glassmorphism Enterprise Dashboard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7700" y="3638550"/>
            <a:ext cx="8715375" cy="5153025"/>
          </a:xfrm>
          <a:custGeom>
            <a:avLst/>
            <a:gdLst/>
            <a:ahLst/>
            <a:cxnLst/>
            <a:rect l="l" t="t" r="r" b="b"/>
            <a:pathLst>
              <a:path w="8715375" h="5153025">
                <a:moveTo>
                  <a:pt x="0" y="0"/>
                </a:moveTo>
                <a:lnTo>
                  <a:pt x="8715375" y="0"/>
                </a:lnTo>
                <a:lnTo>
                  <a:pt x="871537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47700" y="3638550"/>
            <a:ext cx="8715375" cy="647700"/>
          </a:xfrm>
          <a:custGeom>
            <a:avLst/>
            <a:gdLst/>
            <a:ahLst/>
            <a:cxnLst/>
            <a:rect l="l" t="t" r="r" b="b"/>
            <a:pathLst>
              <a:path w="8715375" h="647700">
                <a:moveTo>
                  <a:pt x="0" y="0"/>
                </a:moveTo>
                <a:lnTo>
                  <a:pt x="8715375" y="0"/>
                </a:lnTo>
                <a:lnTo>
                  <a:pt x="871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30752" y="3939227"/>
            <a:ext cx="3017520" cy="2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END-TO-END METHODOLOGY FLOW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85850" y="4286250"/>
            <a:ext cx="7629525" cy="647700"/>
          </a:xfrm>
          <a:custGeom>
            <a:avLst/>
            <a:gdLst/>
            <a:ahLst/>
            <a:cxnLst/>
            <a:rect l="l" t="t" r="r" b="b"/>
            <a:pathLst>
              <a:path w="7629525" h="647700">
                <a:moveTo>
                  <a:pt x="0" y="0"/>
                </a:moveTo>
                <a:lnTo>
                  <a:pt x="7629525" y="0"/>
                </a:lnTo>
                <a:lnTo>
                  <a:pt x="7629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85850" y="4924425"/>
            <a:ext cx="7629525" cy="866775"/>
          </a:xfrm>
          <a:custGeom>
            <a:avLst/>
            <a:gdLst/>
            <a:ahLst/>
            <a:cxnLst/>
            <a:rect l="l" t="t" r="r" b="b"/>
            <a:pathLst>
              <a:path w="7629525" h="866775">
                <a:moveTo>
                  <a:pt x="0" y="0"/>
                </a:moveTo>
                <a:lnTo>
                  <a:pt x="7629525" y="0"/>
                </a:lnTo>
                <a:lnTo>
                  <a:pt x="7629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279392" y="5113538"/>
            <a:ext cx="1335024" cy="25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1"/>
              </a:lnSpc>
            </a:pPr>
            <a:r>
              <a:rPr lang="en-US" sz="1450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NLP Extraction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52928" y="5391287"/>
            <a:ext cx="4133088" cy="25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1"/>
              </a:lnSpc>
            </a:pPr>
            <a:r>
              <a:rPr lang="en-US" sz="1450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(duration, time, department, segment, priority)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85850" y="5781675"/>
            <a:ext cx="7629525" cy="866775"/>
          </a:xfrm>
          <a:custGeom>
            <a:avLst/>
            <a:gdLst/>
            <a:ahLst/>
            <a:cxnLst/>
            <a:rect l="l" t="t" r="r" b="b"/>
            <a:pathLst>
              <a:path w="7629525" h="866775">
                <a:moveTo>
                  <a:pt x="0" y="0"/>
                </a:moveTo>
                <a:lnTo>
                  <a:pt x="7629525" y="0"/>
                </a:lnTo>
                <a:lnTo>
                  <a:pt x="7629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304288" y="5915542"/>
            <a:ext cx="5212080" cy="578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557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Disjunctive Scheduling Constraints + Safety Headway + Siding Capacity + Multi-tier Priority Penalties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85850" y="6638925"/>
            <a:ext cx="7629525" cy="647700"/>
          </a:xfrm>
          <a:custGeom>
            <a:avLst/>
            <a:gdLst/>
            <a:ahLst/>
            <a:cxnLst/>
            <a:rect l="l" t="t" r="r" b="b"/>
            <a:pathLst>
              <a:path w="7629525" h="647700">
                <a:moveTo>
                  <a:pt x="0" y="0"/>
                </a:moveTo>
                <a:lnTo>
                  <a:pt x="7629525" y="0"/>
                </a:lnTo>
                <a:lnTo>
                  <a:pt x="7629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566160" y="6853392"/>
            <a:ext cx="2761488" cy="26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557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CP-SAT Solver (0.13-0.27 sec)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85850" y="7286625"/>
            <a:ext cx="7629525" cy="647700"/>
          </a:xfrm>
          <a:custGeom>
            <a:avLst/>
            <a:gdLst/>
            <a:ahLst/>
            <a:cxnLst/>
            <a:rect l="l" t="t" r="r" b="b"/>
            <a:pathLst>
              <a:path w="7629525" h="647700">
                <a:moveTo>
                  <a:pt x="0" y="0"/>
                </a:moveTo>
                <a:lnTo>
                  <a:pt x="7629525" y="0"/>
                </a:lnTo>
                <a:lnTo>
                  <a:pt x="7629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108960" y="7485211"/>
            <a:ext cx="3675888" cy="25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sz="1521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Optimal Hold Plan + Delay Minimization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85850" y="7924800"/>
            <a:ext cx="7629525" cy="647700"/>
          </a:xfrm>
          <a:custGeom>
            <a:avLst/>
            <a:gdLst/>
            <a:ahLst/>
            <a:cxnLst/>
            <a:rect l="l" t="t" r="r" b="b"/>
            <a:pathLst>
              <a:path w="7629525" h="647700">
                <a:moveTo>
                  <a:pt x="0" y="0"/>
                </a:moveTo>
                <a:lnTo>
                  <a:pt x="7629525" y="0"/>
                </a:lnTo>
                <a:lnTo>
                  <a:pt x="7629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2432304" y="8117030"/>
            <a:ext cx="5047488" cy="2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486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LLLM-generated Operational Notice + Visual Dashboard</a:t>
            </a:r>
          </a:p>
        </p:txBody>
      </p:sp>
      <p:sp>
        <p:nvSpPr>
          <p:cNvPr id="31" name="Freeform 31"/>
          <p:cNvSpPr/>
          <p:nvPr/>
        </p:nvSpPr>
        <p:spPr>
          <a:xfrm>
            <a:off x="4781550" y="471487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4781550" y="55721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4781550" y="642937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4781550" y="70675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4781550" y="771525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353550" y="3638550"/>
            <a:ext cx="6105525" cy="5153025"/>
          </a:xfrm>
          <a:custGeom>
            <a:avLst/>
            <a:gdLst/>
            <a:ahLst/>
            <a:cxnLst/>
            <a:rect l="l" t="t" r="r" b="b"/>
            <a:pathLst>
              <a:path w="6105525" h="5153025">
                <a:moveTo>
                  <a:pt x="0" y="0"/>
                </a:moveTo>
                <a:lnTo>
                  <a:pt x="6105525" y="0"/>
                </a:lnTo>
                <a:lnTo>
                  <a:pt x="610552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353550" y="3638550"/>
            <a:ext cx="6105525" cy="647700"/>
          </a:xfrm>
          <a:custGeom>
            <a:avLst/>
            <a:gdLst/>
            <a:ahLst/>
            <a:cxnLst/>
            <a:rect l="l" t="t" r="r" b="b"/>
            <a:pathLst>
              <a:path w="6105525" h="647700">
                <a:moveTo>
                  <a:pt x="0" y="0"/>
                </a:moveTo>
                <a:lnTo>
                  <a:pt x="6105525" y="0"/>
                </a:lnTo>
                <a:lnTo>
                  <a:pt x="6105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0789920" y="3909041"/>
            <a:ext cx="2907792" cy="29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TECHNICAL HIGHLIGHTS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53344" y="4674903"/>
            <a:ext cx="2944368" cy="43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7"/>
              </a:lnSpc>
            </a:pPr>
            <a:r>
              <a:rPr lang="en-US" sz="16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 track segments | 9 stations | strict 7-min safety headway</a:t>
            </a:r>
          </a:p>
        </p:txBody>
      </p:sp>
      <p:sp>
        <p:nvSpPr>
          <p:cNvPr id="40" name="Freeform 40"/>
          <p:cNvSpPr/>
          <p:nvPr/>
        </p:nvSpPr>
        <p:spPr>
          <a:xfrm>
            <a:off x="9791700" y="5353050"/>
            <a:ext cx="5019675" cy="219075"/>
          </a:xfrm>
          <a:custGeom>
            <a:avLst/>
            <a:gdLst/>
            <a:ahLst/>
            <a:cxnLst/>
            <a:rect l="l" t="t" r="r" b="b"/>
            <a:pathLst>
              <a:path w="5019675" h="219075">
                <a:moveTo>
                  <a:pt x="0" y="0"/>
                </a:moveTo>
                <a:lnTo>
                  <a:pt x="5019675" y="0"/>
                </a:lnTo>
                <a:lnTo>
                  <a:pt x="5019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0753344" y="5606932"/>
            <a:ext cx="2560320" cy="571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6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Maintenance blackout zones enforced</a:t>
            </a:r>
          </a:p>
        </p:txBody>
      </p:sp>
      <p:sp>
        <p:nvSpPr>
          <p:cNvPr id="42" name="Freeform 42"/>
          <p:cNvSpPr/>
          <p:nvPr/>
        </p:nvSpPr>
        <p:spPr>
          <a:xfrm>
            <a:off x="9791700" y="6210300"/>
            <a:ext cx="5019675" cy="219075"/>
          </a:xfrm>
          <a:custGeom>
            <a:avLst/>
            <a:gdLst/>
            <a:ahLst/>
            <a:cxnLst/>
            <a:rect l="l" t="t" r="r" b="b"/>
            <a:pathLst>
              <a:path w="5019675" h="219075">
                <a:moveTo>
                  <a:pt x="0" y="0"/>
                </a:moveTo>
                <a:lnTo>
                  <a:pt x="5019675" y="0"/>
                </a:lnTo>
                <a:lnTo>
                  <a:pt x="5019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859536" y="3011284"/>
            <a:ext cx="2523744" cy="46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Constraint Optimization Engine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24528" y="3161277"/>
            <a:ext cx="2267712" cy="23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Natural Language Interface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23632" y="2221700"/>
            <a:ext cx="1931463" cy="42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20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Python + </a:t>
            </a:r>
            <a:r>
              <a:rPr lang="en-US" sz="2000" b="1" dirty="0" err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Pydantic</a:t>
            </a:r>
            <a:endParaRPr lang="en-US" sz="2000" b="1" dirty="0">
              <a:solidFill>
                <a:srgbClr val="001C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848600" y="2790826"/>
            <a:ext cx="1679448" cy="473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4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Structured </a:t>
            </a:r>
            <a:r>
              <a:rPr lang="en-US" sz="16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Parsing</a:t>
            </a:r>
            <a:endParaRPr lang="en-US" sz="1400" b="1" dirty="0">
              <a:solidFill>
                <a:srgbClr val="001C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1325225" y="2477485"/>
            <a:ext cx="781431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2000" b="1" dirty="0" err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Plotly</a:t>
            </a:r>
            <a:endParaRPr lang="en-US" sz="2000" b="1" dirty="0">
              <a:solidFill>
                <a:srgbClr val="001C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588752" y="2877553"/>
            <a:ext cx="2414016" cy="46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Time-Distance (Marey) Charts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28064" y="2956769"/>
            <a:ext cx="1572768" cy="452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400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(FOIS/COA inspired</a:t>
            </a:r>
            <a:r>
              <a:rPr lang="en-US" sz="1273" b="1" dirty="0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69664" y="4491694"/>
            <a:ext cx="1554480" cy="25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sz="1521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Controller Query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30384" y="6606883"/>
            <a:ext cx="4828032" cy="59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628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Priority weighing: Vande Bharat/Rajdhani (150) &gt; Mail/Express (60) &gt; Passenger (30) &gt; Freight (10)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515600" y="7738453"/>
            <a:ext cx="3675888" cy="59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628" b="1">
                <a:solidFill>
                  <a:srgbClr val="001C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Holds only at stations with loop lines (Kalpi, Pokhryan, Bhimsen, Orai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982450" cy="857250"/>
          </a:xfrm>
          <a:custGeom>
            <a:avLst/>
            <a:gdLst/>
            <a:ahLst/>
            <a:cxnLst/>
            <a:rect l="l" t="t" r="r" b="b"/>
            <a:pathLst>
              <a:path w="11982450" h="857250">
                <a:moveTo>
                  <a:pt x="0" y="0"/>
                </a:moveTo>
                <a:lnTo>
                  <a:pt x="11982450" y="0"/>
                </a:lnTo>
                <a:lnTo>
                  <a:pt x="11982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40000" y="209550"/>
            <a:ext cx="876300" cy="1295400"/>
          </a:xfrm>
          <a:custGeom>
            <a:avLst/>
            <a:gdLst/>
            <a:ahLst/>
            <a:cxnLst/>
            <a:rect l="l" t="t" r="r" b="b"/>
            <a:pathLst>
              <a:path w="876300" h="1295400">
                <a:moveTo>
                  <a:pt x="0" y="0"/>
                </a:moveTo>
                <a:lnTo>
                  <a:pt x="876300" y="0"/>
                </a:lnTo>
                <a:lnTo>
                  <a:pt x="876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312896" y="561926"/>
            <a:ext cx="1609344" cy="529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 b="1" spc="-83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INDIA HACKATHON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4944" y="1194186"/>
            <a:ext cx="9363456" cy="81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6094" b="1" spc="-243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FEASIBILITY </a:t>
            </a:r>
            <a:r>
              <a:rPr lang="en-US" sz="6094" b="1" spc="-243">
                <a:solidFill>
                  <a:srgbClr val="E4771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AND</a:t>
            </a:r>
            <a:r>
              <a:rPr lang="en-US" sz="6094" b="1" spc="-243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VIABILITY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647700" y="2143125"/>
            <a:ext cx="5019675" cy="6648450"/>
          </a:xfrm>
          <a:custGeom>
            <a:avLst/>
            <a:gdLst/>
            <a:ahLst/>
            <a:cxnLst/>
            <a:rect l="l" t="t" r="r" b="b"/>
            <a:pathLst>
              <a:path w="5019675" h="6648450">
                <a:moveTo>
                  <a:pt x="0" y="0"/>
                </a:moveTo>
                <a:lnTo>
                  <a:pt x="5019675" y="0"/>
                </a:lnTo>
                <a:lnTo>
                  <a:pt x="50196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6775" y="2571750"/>
            <a:ext cx="228600" cy="5791200"/>
          </a:xfrm>
          <a:custGeom>
            <a:avLst/>
            <a:gdLst/>
            <a:ahLst/>
            <a:cxnLst/>
            <a:rect l="l" t="t" r="r" b="b"/>
            <a:pathLst>
              <a:path w="228600" h="5791200">
                <a:moveTo>
                  <a:pt x="0" y="0"/>
                </a:moveTo>
                <a:lnTo>
                  <a:pt x="228600" y="0"/>
                </a:lnTo>
                <a:lnTo>
                  <a:pt x="2286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07008" y="2662387"/>
            <a:ext cx="749808" cy="84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6378" b="1" spc="-255">
                <a:solidFill>
                  <a:srgbClr val="8AC9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9152" y="2916091"/>
            <a:ext cx="1572768" cy="30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301" b="1" spc="-92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FEASIBILITY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85850" y="3429000"/>
            <a:ext cx="3924300" cy="428625"/>
          </a:xfrm>
          <a:custGeom>
            <a:avLst/>
            <a:gdLst/>
            <a:ahLst/>
            <a:cxnLst/>
            <a:rect l="l" t="t" r="r" b="b"/>
            <a:pathLst>
              <a:path w="3924300" h="428625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70432" y="3906444"/>
            <a:ext cx="4134612" cy="986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623"/>
              </a:lnSpc>
              <a:buFont typeface="Arial" panose="020B0604020202020204" pitchFamily="34" charset="0"/>
              <a:buChar char="•"/>
            </a:pPr>
            <a:r>
              <a:rPr lang="en-US" sz="2017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Proven open-source solver (Google OR-Tools) already used in industry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0432" y="5143447"/>
            <a:ext cx="3915156" cy="947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485"/>
              </a:lnSpc>
              <a:buFont typeface="Arial" panose="020B0604020202020204" pitchFamily="34" charset="0"/>
              <a:buChar char="•"/>
            </a:pPr>
            <a:r>
              <a:rPr lang="en-US" sz="1911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Solves real 220 km CNB-JHS corridor instances in under 0.3 seconds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0432" y="6436855"/>
            <a:ext cx="3915156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116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Works with existing FOIS/COA style data (CSV/JSON from upload)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0432" y="7331842"/>
            <a:ext cx="4134612" cy="910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92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Optional Gemini API or local LLM – no mandatory external dependency</a:t>
            </a:r>
          </a:p>
        </p:txBody>
      </p:sp>
      <p:sp>
        <p:nvSpPr>
          <p:cNvPr id="16" name="Freeform 16"/>
          <p:cNvSpPr/>
          <p:nvPr/>
        </p:nvSpPr>
        <p:spPr>
          <a:xfrm>
            <a:off x="5656707" y="2102427"/>
            <a:ext cx="5229225" cy="6648450"/>
          </a:xfrm>
          <a:custGeom>
            <a:avLst/>
            <a:gdLst/>
            <a:ahLst/>
            <a:cxnLst/>
            <a:rect l="l" t="t" r="r" b="b"/>
            <a:pathLst>
              <a:path w="5229225" h="6648450">
                <a:moveTo>
                  <a:pt x="0" y="0"/>
                </a:moveTo>
                <a:lnTo>
                  <a:pt x="5229225" y="0"/>
                </a:lnTo>
                <a:lnTo>
                  <a:pt x="522922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876925" y="2571750"/>
            <a:ext cx="438150" cy="5791200"/>
          </a:xfrm>
          <a:custGeom>
            <a:avLst/>
            <a:gdLst/>
            <a:ahLst/>
            <a:cxnLst/>
            <a:rect l="l" t="t" r="r" b="b"/>
            <a:pathLst>
              <a:path w="438150" h="5791200">
                <a:moveTo>
                  <a:pt x="0" y="0"/>
                </a:moveTo>
                <a:lnTo>
                  <a:pt x="438150" y="0"/>
                </a:lnTo>
                <a:lnTo>
                  <a:pt x="4381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437376" y="2741858"/>
            <a:ext cx="749808" cy="66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995" b="1" spc="-199">
                <a:solidFill>
                  <a:srgbClr val="E4771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34656" y="2676334"/>
            <a:ext cx="2852928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b="1" spc="-90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POTENTIAL CHALLENGES &amp; RISKS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305550" y="3429000"/>
            <a:ext cx="3933825" cy="428625"/>
          </a:xfrm>
          <a:custGeom>
            <a:avLst/>
            <a:gdLst/>
            <a:ahLst/>
            <a:cxnLst/>
            <a:rect l="l" t="t" r="r" b="b"/>
            <a:pathLst>
              <a:path w="3933825" h="428625">
                <a:moveTo>
                  <a:pt x="0" y="0"/>
                </a:moveTo>
                <a:lnTo>
                  <a:pt x="3933825" y="0"/>
                </a:lnTo>
                <a:lnTo>
                  <a:pt x="3933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437376" y="3972149"/>
            <a:ext cx="3933824" cy="578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46"/>
              </a:lnSpc>
              <a:buFont typeface="Arial" panose="020B0604020202020204" pitchFamily="34" charset="0"/>
              <a:buChar char="•"/>
            </a:pPr>
            <a:r>
              <a:rPr lang="en-US" sz="1805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Incomplete or noisy real-time train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37375" y="5020886"/>
            <a:ext cx="4086987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92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Controllers may initially resist new AI tools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37376" y="6080447"/>
            <a:ext cx="3950208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92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Edge cases in complex multi-block scenarios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37376" y="7105701"/>
            <a:ext cx="3950208" cy="986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23"/>
              </a:lnSpc>
              <a:buFont typeface="Arial" panose="020B0604020202020204" pitchFamily="34" charset="0"/>
              <a:buChar char="•"/>
            </a:pPr>
            <a:r>
              <a:rPr lang="en-US" sz="2017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Need for continuous model validation with actual operations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2192000" y="2238874"/>
            <a:ext cx="4800600" cy="6858000"/>
          </a:xfrm>
          <a:custGeom>
            <a:avLst/>
            <a:gdLst/>
            <a:ahLst/>
            <a:cxnLst/>
            <a:rect l="l" t="t" r="r" b="b"/>
            <a:pathLst>
              <a:path w="4800600" h="6648450">
                <a:moveTo>
                  <a:pt x="0" y="0"/>
                </a:moveTo>
                <a:lnTo>
                  <a:pt x="4800600" y="0"/>
                </a:lnTo>
                <a:lnTo>
                  <a:pt x="4800600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315700" y="2571750"/>
            <a:ext cx="228600" cy="5791200"/>
          </a:xfrm>
          <a:custGeom>
            <a:avLst/>
            <a:gdLst/>
            <a:ahLst/>
            <a:cxnLst/>
            <a:rect l="l" t="t" r="r" b="b"/>
            <a:pathLst>
              <a:path w="228600" h="5791200">
                <a:moveTo>
                  <a:pt x="0" y="0"/>
                </a:moveTo>
                <a:lnTo>
                  <a:pt x="228600" y="0"/>
                </a:lnTo>
                <a:lnTo>
                  <a:pt x="2286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832336" y="2741858"/>
            <a:ext cx="749808" cy="66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800" b="1" spc="-199" dirty="0">
                <a:solidFill>
                  <a:srgbClr val="8AC9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57632" y="2676334"/>
            <a:ext cx="160934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000" b="1" spc="-90" dirty="0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MITIGATION STRATEGIES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534775" y="3429000"/>
            <a:ext cx="3924300" cy="428625"/>
          </a:xfrm>
          <a:custGeom>
            <a:avLst/>
            <a:gdLst/>
            <a:ahLst/>
            <a:cxnLst/>
            <a:rect l="l" t="t" r="r" b="b"/>
            <a:pathLst>
              <a:path w="3924300" h="428625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740896" y="3906444"/>
            <a:ext cx="4367022" cy="986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23"/>
              </a:lnSpc>
              <a:buFont typeface="Arial" panose="020B0604020202020204" pitchFamily="34" charset="0"/>
              <a:buChar char="•"/>
            </a:pPr>
            <a:r>
              <a:rPr lang="en-US" sz="2017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Drag-and-drop sample templates + preset scenarios for instant testing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40896" y="5120310"/>
            <a:ext cx="4572000" cy="986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23"/>
              </a:lnSpc>
              <a:buFont typeface="Arial" panose="020B0604020202020204" pitchFamily="34" charset="0"/>
              <a:buChar char="•"/>
            </a:pPr>
            <a:r>
              <a:rPr lang="en-US" sz="2017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Human-in-the-loop: Controller always has final approval &amp;slider controls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40895" y="6364864"/>
            <a:ext cx="4571999" cy="602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392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Strict safety constraints hard-coded (zero headway violations guaranteed)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40895" y="7476033"/>
            <a:ext cx="4800599" cy="986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23"/>
              </a:lnSpc>
              <a:buFont typeface="Arial" panose="020B0604020202020204" pitchFamily="34" charset="0"/>
              <a:buChar char="•"/>
            </a:pPr>
            <a:r>
              <a:rPr lang="en-US" sz="2017" b="1" dirty="0">
                <a:solidFill>
                  <a:srgbClr val="001F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Modular architecture – can be integrated with existing CRIS systems later</a:t>
            </a:r>
          </a:p>
        </p:txBody>
      </p:sp>
      <p:sp>
        <p:nvSpPr>
          <p:cNvPr id="34" name="Freeform 34"/>
          <p:cNvSpPr/>
          <p:nvPr/>
        </p:nvSpPr>
        <p:spPr>
          <a:xfrm>
            <a:off x="0" y="8782050"/>
            <a:ext cx="18288000" cy="1504950"/>
          </a:xfrm>
          <a:custGeom>
            <a:avLst/>
            <a:gdLst/>
            <a:ahLst/>
            <a:cxnLst/>
            <a:rect l="l" t="t" r="r" b="b"/>
            <a:pathLst>
              <a:path w="18288000" h="1504950">
                <a:moveTo>
                  <a:pt x="0" y="0"/>
                </a:moveTo>
                <a:lnTo>
                  <a:pt x="18288000" y="0"/>
                </a:lnTo>
                <a:lnTo>
                  <a:pt x="18288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94944" y="9406151"/>
            <a:ext cx="3675888" cy="47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3200" b="1" spc="-144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</a:t>
            </a:r>
            <a:r>
              <a:rPr lang="en-US" sz="3200" b="1" spc="-144" dirty="0" err="1">
                <a:solidFill>
                  <a:srgbClr val="E47717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ForceSense</a:t>
            </a:r>
            <a:endParaRPr lang="en-US" sz="3200" b="1" spc="-144" dirty="0">
              <a:solidFill>
                <a:srgbClr val="E47717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6096000" y="9001125"/>
            <a:ext cx="8277225" cy="1076325"/>
          </a:xfrm>
          <a:custGeom>
            <a:avLst/>
            <a:gdLst/>
            <a:ahLst/>
            <a:cxnLst/>
            <a:rect l="l" t="t" r="r" b="b"/>
            <a:pathLst>
              <a:path w="8277225" h="1076325">
                <a:moveTo>
                  <a:pt x="0" y="0"/>
                </a:moveTo>
                <a:lnTo>
                  <a:pt x="8277225" y="0"/>
                </a:lnTo>
                <a:lnTo>
                  <a:pt x="827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363700" y="8782050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5581376" y="1208377"/>
            <a:ext cx="274320" cy="15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7"/>
              </a:lnSpc>
            </a:pPr>
            <a:r>
              <a:rPr lang="en-US" sz="1167" b="1" spc="-46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770096" y="1190126"/>
            <a:ext cx="640080" cy="2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124" b="1" spc="-84">
                <a:solidFill>
                  <a:srgbClr val="001F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792" y="726196"/>
            <a:ext cx="8631936" cy="801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9"/>
              </a:lnSpc>
            </a:pPr>
            <a:r>
              <a:rPr lang="en-US" sz="6059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 AND </a:t>
            </a:r>
            <a:r>
              <a:rPr lang="en-US" sz="6059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BENEFITS</a:t>
            </a:r>
          </a:p>
        </p:txBody>
      </p:sp>
      <p:sp>
        <p:nvSpPr>
          <p:cNvPr id="4" name="Freeform 4"/>
          <p:cNvSpPr/>
          <p:nvPr/>
        </p:nvSpPr>
        <p:spPr>
          <a:xfrm>
            <a:off x="15449550" y="209550"/>
            <a:ext cx="1104900" cy="1295400"/>
          </a:xfrm>
          <a:custGeom>
            <a:avLst/>
            <a:gdLst/>
            <a:ahLst/>
            <a:cxnLst/>
            <a:rect l="l" t="t" r="r" b="b"/>
            <a:pathLst>
              <a:path w="1104900" h="12954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587216" y="522635"/>
            <a:ext cx="1481328" cy="88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89"/>
              </a:lnSpc>
            </a:pPr>
            <a:r>
              <a:rPr lang="en-US" sz="1769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INDIA HACKATHON 2026</a:t>
            </a:r>
          </a:p>
        </p:txBody>
      </p:sp>
      <p:sp>
        <p:nvSpPr>
          <p:cNvPr id="6" name="Freeform 6"/>
          <p:cNvSpPr/>
          <p:nvPr/>
        </p:nvSpPr>
        <p:spPr>
          <a:xfrm>
            <a:off x="428625" y="1924050"/>
            <a:ext cx="4143375" cy="3009900"/>
          </a:xfrm>
          <a:custGeom>
            <a:avLst/>
            <a:gdLst/>
            <a:ahLst/>
            <a:cxnLst/>
            <a:rect l="l" t="t" r="r" b="b"/>
            <a:pathLst>
              <a:path w="4143375" h="3009900">
                <a:moveTo>
                  <a:pt x="0" y="0"/>
                </a:moveTo>
                <a:lnTo>
                  <a:pt x="4143375" y="0"/>
                </a:lnTo>
                <a:lnTo>
                  <a:pt x="41433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7700" y="2143125"/>
            <a:ext cx="228600" cy="2571750"/>
          </a:xfrm>
          <a:custGeom>
            <a:avLst/>
            <a:gdLst/>
            <a:ahLst/>
            <a:cxnLst/>
            <a:rect l="l" t="t" r="r" b="b"/>
            <a:pathLst>
              <a:path w="228600" h="2571750">
                <a:moveTo>
                  <a:pt x="0" y="0"/>
                </a:moveTo>
                <a:lnTo>
                  <a:pt x="228600" y="0"/>
                </a:lnTo>
                <a:lnTo>
                  <a:pt x="2286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81328" y="2204541"/>
            <a:ext cx="2377440" cy="655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1840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Massive reduction in total train delay</a:t>
            </a:r>
          </a:p>
        </p:txBody>
      </p:sp>
      <p:sp>
        <p:nvSpPr>
          <p:cNvPr id="9" name="Freeform 9"/>
          <p:cNvSpPr/>
          <p:nvPr/>
        </p:nvSpPr>
        <p:spPr>
          <a:xfrm>
            <a:off x="5000625" y="1924050"/>
            <a:ext cx="3714750" cy="3009900"/>
          </a:xfrm>
          <a:custGeom>
            <a:avLst/>
            <a:gdLst/>
            <a:ahLst/>
            <a:cxnLst/>
            <a:rect l="l" t="t" r="r" b="b"/>
            <a:pathLst>
              <a:path w="3714750" h="3009900">
                <a:moveTo>
                  <a:pt x="0" y="0"/>
                </a:moveTo>
                <a:lnTo>
                  <a:pt x="3714750" y="0"/>
                </a:lnTo>
                <a:lnTo>
                  <a:pt x="3714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000625" y="2143125"/>
            <a:ext cx="447675" cy="2571750"/>
          </a:xfrm>
          <a:custGeom>
            <a:avLst/>
            <a:gdLst/>
            <a:ahLst/>
            <a:cxnLst/>
            <a:rect l="l" t="t" r="r" b="b"/>
            <a:pathLst>
              <a:path w="447675" h="2571750">
                <a:moveTo>
                  <a:pt x="0" y="0"/>
                </a:moveTo>
                <a:lnTo>
                  <a:pt x="447675" y="0"/>
                </a:lnTo>
                <a:lnTo>
                  <a:pt x="447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88736" y="2658230"/>
            <a:ext cx="1938528" cy="77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5775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100%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70448" y="3500815"/>
            <a:ext cx="2212848" cy="76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159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Safety Headway Compliance</a:t>
            </a:r>
          </a:p>
        </p:txBody>
      </p:sp>
      <p:sp>
        <p:nvSpPr>
          <p:cNvPr id="13" name="Freeform 13"/>
          <p:cNvSpPr/>
          <p:nvPr/>
        </p:nvSpPr>
        <p:spPr>
          <a:xfrm>
            <a:off x="8924925" y="1924050"/>
            <a:ext cx="3705225" cy="3009900"/>
          </a:xfrm>
          <a:custGeom>
            <a:avLst/>
            <a:gdLst/>
            <a:ahLst/>
            <a:cxnLst/>
            <a:rect l="l" t="t" r="r" b="b"/>
            <a:pathLst>
              <a:path w="3705225" h="3009900">
                <a:moveTo>
                  <a:pt x="0" y="0"/>
                </a:moveTo>
                <a:lnTo>
                  <a:pt x="3705225" y="0"/>
                </a:lnTo>
                <a:lnTo>
                  <a:pt x="3705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144000" y="2143125"/>
            <a:ext cx="219075" cy="2571750"/>
          </a:xfrm>
          <a:custGeom>
            <a:avLst/>
            <a:gdLst/>
            <a:ahLst/>
            <a:cxnLst/>
            <a:rect l="l" t="t" r="r" b="b"/>
            <a:pathLst>
              <a:path w="219075" h="2571750">
                <a:moveTo>
                  <a:pt x="0" y="0"/>
                </a:moveTo>
                <a:lnTo>
                  <a:pt x="219075" y="0"/>
                </a:lnTo>
                <a:lnTo>
                  <a:pt x="2190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674352" y="2317092"/>
            <a:ext cx="2468880" cy="70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82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Section Throughout Efficiency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4352" y="3616286"/>
            <a:ext cx="2103120" cy="46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b="1" dirty="0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preserved on high-density corridor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839700" y="1924050"/>
            <a:ext cx="3495675" cy="3009900"/>
          </a:xfrm>
          <a:custGeom>
            <a:avLst/>
            <a:gdLst/>
            <a:ahLst/>
            <a:cxnLst/>
            <a:rect l="l" t="t" r="r" b="b"/>
            <a:pathLst>
              <a:path w="3495675" h="3009900">
                <a:moveTo>
                  <a:pt x="0" y="0"/>
                </a:moveTo>
                <a:lnTo>
                  <a:pt x="3495675" y="0"/>
                </a:lnTo>
                <a:lnTo>
                  <a:pt x="34956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058775" y="2143125"/>
            <a:ext cx="228600" cy="2571750"/>
          </a:xfrm>
          <a:custGeom>
            <a:avLst/>
            <a:gdLst/>
            <a:ahLst/>
            <a:cxnLst/>
            <a:rect l="l" t="t" r="r" b="b"/>
            <a:pathLst>
              <a:path w="228600" h="2571750">
                <a:moveTo>
                  <a:pt x="0" y="0"/>
                </a:moveTo>
                <a:lnTo>
                  <a:pt x="228600" y="0"/>
                </a:lnTo>
                <a:lnTo>
                  <a:pt x="2286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807440" y="2553952"/>
            <a:ext cx="1353312" cy="41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3081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Instant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07440" y="3100349"/>
            <a:ext cx="2011680" cy="124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01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generation of official T/409 Control Memo</a:t>
            </a:r>
          </a:p>
        </p:txBody>
      </p:sp>
      <p:sp>
        <p:nvSpPr>
          <p:cNvPr id="21" name="Freeform 21"/>
          <p:cNvSpPr/>
          <p:nvPr/>
        </p:nvSpPr>
        <p:spPr>
          <a:xfrm>
            <a:off x="428625" y="4924425"/>
            <a:ext cx="7410450" cy="866775"/>
          </a:xfrm>
          <a:custGeom>
            <a:avLst/>
            <a:gdLst/>
            <a:ahLst/>
            <a:cxnLst/>
            <a:rect l="l" t="t" r="r" b="b"/>
            <a:pathLst>
              <a:path w="7410450" h="866775">
                <a:moveTo>
                  <a:pt x="0" y="0"/>
                </a:moveTo>
                <a:lnTo>
                  <a:pt x="7410450" y="0"/>
                </a:lnTo>
                <a:lnTo>
                  <a:pt x="7410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28625" y="5781675"/>
            <a:ext cx="7410450" cy="3438525"/>
          </a:xfrm>
          <a:custGeom>
            <a:avLst/>
            <a:gdLst/>
            <a:ahLst/>
            <a:cxnLst/>
            <a:rect l="l" t="t" r="r" b="b"/>
            <a:pathLst>
              <a:path w="7410450" h="3438525">
                <a:moveTo>
                  <a:pt x="0" y="0"/>
                </a:moveTo>
                <a:lnTo>
                  <a:pt x="7410450" y="0"/>
                </a:lnTo>
                <a:lnTo>
                  <a:pt x="7410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47700" y="5781675"/>
            <a:ext cx="228600" cy="3219450"/>
          </a:xfrm>
          <a:custGeom>
            <a:avLst/>
            <a:gdLst/>
            <a:ahLst/>
            <a:cxnLst/>
            <a:rect l="l" t="t" r="r" b="b"/>
            <a:pathLst>
              <a:path w="228600" h="3219450">
                <a:moveTo>
                  <a:pt x="0" y="0"/>
                </a:moveTo>
                <a:lnTo>
                  <a:pt x="228600" y="0"/>
                </a:lnTo>
                <a:lnTo>
                  <a:pt x="228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25296" y="6041592"/>
            <a:ext cx="5726430" cy="669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69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Empowers Section Controllers with “What-If” decision support in plain English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5296" y="7679139"/>
            <a:ext cx="5436108" cy="312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17"/>
              </a:lnSpc>
              <a:buFont typeface="Arial" panose="020B0604020202020204" pitchFamily="34" charset="0"/>
              <a:buChar char="•"/>
            </a:pPr>
            <a:r>
              <a:rPr lang="en-US" sz="1805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Reduced cognitive load during emergencies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5296" y="8306646"/>
            <a:ext cx="5726430" cy="312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17"/>
              </a:lnSpc>
              <a:buFont typeface="Arial" panose="020B0604020202020204" pitchFamily="34" charset="0"/>
              <a:buChar char="•"/>
            </a:pPr>
            <a:r>
              <a:rPr lang="en-US" sz="1805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Standardized, error-free operational notices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0" y="4924425"/>
            <a:ext cx="7410450" cy="866775"/>
          </a:xfrm>
          <a:custGeom>
            <a:avLst/>
            <a:gdLst/>
            <a:ahLst/>
            <a:cxnLst/>
            <a:rect l="l" t="t" r="r" b="b"/>
            <a:pathLst>
              <a:path w="7410450" h="866775">
                <a:moveTo>
                  <a:pt x="0" y="0"/>
                </a:moveTo>
                <a:lnTo>
                  <a:pt x="7410450" y="0"/>
                </a:lnTo>
                <a:lnTo>
                  <a:pt x="7410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620000" y="5781675"/>
            <a:ext cx="7410450" cy="3438525"/>
          </a:xfrm>
          <a:custGeom>
            <a:avLst/>
            <a:gdLst/>
            <a:ahLst/>
            <a:cxnLst/>
            <a:rect l="l" t="t" r="r" b="b"/>
            <a:pathLst>
              <a:path w="7410450" h="3438525">
                <a:moveTo>
                  <a:pt x="0" y="0"/>
                </a:moveTo>
                <a:lnTo>
                  <a:pt x="7410450" y="0"/>
                </a:lnTo>
                <a:lnTo>
                  <a:pt x="7410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829550" y="5781675"/>
            <a:ext cx="447675" cy="3219450"/>
          </a:xfrm>
          <a:custGeom>
            <a:avLst/>
            <a:gdLst/>
            <a:ahLst/>
            <a:cxnLst/>
            <a:rect l="l" t="t" r="r" b="b"/>
            <a:pathLst>
              <a:path w="447675" h="3219450">
                <a:moveTo>
                  <a:pt x="0" y="0"/>
                </a:moveTo>
                <a:lnTo>
                  <a:pt x="447675" y="0"/>
                </a:lnTo>
                <a:lnTo>
                  <a:pt x="447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485631" y="5979870"/>
            <a:ext cx="5657469" cy="669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69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Lower detention costs for passenger and freight trains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5632" y="6823404"/>
            <a:ext cx="5657468" cy="669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69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Optimized capacity utilization of existing infrastructure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5632" y="7688101"/>
            <a:ext cx="5657468" cy="31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566"/>
              </a:lnSpc>
              <a:buFont typeface="Arial" panose="020B0604020202020204" pitchFamily="34" charset="0"/>
              <a:buChar char="•"/>
            </a:pPr>
            <a:r>
              <a:rPr lang="en-US" sz="1769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Reduced fuel wastage from unnecessary holding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85631" y="8191575"/>
            <a:ext cx="5887593" cy="669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69"/>
              </a:lnSpc>
              <a:buFont typeface="Arial" panose="020B0604020202020204" pitchFamily="34" charset="0"/>
              <a:buChar char="•"/>
            </a:pPr>
            <a:r>
              <a:rPr lang="en-US" sz="1840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Scalable across other high-density corridors of Indian Railways</a:t>
            </a:r>
          </a:p>
        </p:txBody>
      </p:sp>
      <p:sp>
        <p:nvSpPr>
          <p:cNvPr id="34" name="Freeform 34"/>
          <p:cNvSpPr/>
          <p:nvPr/>
        </p:nvSpPr>
        <p:spPr>
          <a:xfrm>
            <a:off x="0" y="9001125"/>
            <a:ext cx="18288000" cy="1285875"/>
          </a:xfrm>
          <a:custGeom>
            <a:avLst/>
            <a:gdLst/>
            <a:ahLst/>
            <a:cxnLst/>
            <a:rect l="l" t="t" r="r" b="b"/>
            <a:pathLst>
              <a:path w="18288000" h="1285875">
                <a:moveTo>
                  <a:pt x="0" y="0"/>
                </a:moveTo>
                <a:lnTo>
                  <a:pt x="18288000" y="0"/>
                </a:lnTo>
                <a:lnTo>
                  <a:pt x="182880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21792" y="9594884"/>
            <a:ext cx="3474720" cy="42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3152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</a:t>
            </a:r>
            <a:r>
              <a:rPr lang="en-US" sz="3152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ForceSense</a:t>
            </a:r>
          </a:p>
        </p:txBody>
      </p:sp>
      <p:sp>
        <p:nvSpPr>
          <p:cNvPr id="36" name="Freeform 36"/>
          <p:cNvSpPr/>
          <p:nvPr/>
        </p:nvSpPr>
        <p:spPr>
          <a:xfrm>
            <a:off x="6524625" y="9210675"/>
            <a:ext cx="7848600" cy="1076325"/>
          </a:xfrm>
          <a:custGeom>
            <a:avLst/>
            <a:gdLst/>
            <a:ahLst/>
            <a:cxnLst/>
            <a:rect l="l" t="t" r="r" b="b"/>
            <a:pathLst>
              <a:path w="7848600" h="1076325">
                <a:moveTo>
                  <a:pt x="0" y="0"/>
                </a:moveTo>
                <a:lnTo>
                  <a:pt x="7848600" y="0"/>
                </a:lnTo>
                <a:lnTo>
                  <a:pt x="784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363700" y="9001125"/>
            <a:ext cx="1752600" cy="1285875"/>
          </a:xfrm>
          <a:custGeom>
            <a:avLst/>
            <a:gdLst/>
            <a:ahLst/>
            <a:cxnLst/>
            <a:rect l="l" t="t" r="r" b="b"/>
            <a:pathLst>
              <a:path w="1752600" h="1285875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481328" y="2974232"/>
            <a:ext cx="1097280" cy="59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4428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896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615184" y="3228563"/>
            <a:ext cx="603504" cy="30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min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39696" y="3640043"/>
            <a:ext cx="274320" cy="30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→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92224" y="3988021"/>
            <a:ext cx="694944" cy="5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4357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15184" y="4236689"/>
            <a:ext cx="603504" cy="30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FF6B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min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66544" y="5323768"/>
            <a:ext cx="3364992" cy="29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223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SOCIAL / OPERATIONAL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89136" y="5323768"/>
            <a:ext cx="4297680" cy="29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223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ECONOMIC / ENVIRONMENTAL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25296" y="6989910"/>
            <a:ext cx="5726430" cy="312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617"/>
              </a:lnSpc>
              <a:buFont typeface="Arial" panose="020B0604020202020204" pitchFamily="34" charset="0"/>
              <a:buChar char="•"/>
            </a:pPr>
            <a:r>
              <a:rPr lang="en-US" sz="1805" b="1" dirty="0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Faster and safer maintenance block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1982450" cy="647700"/>
          </a:xfrm>
          <a:custGeom>
            <a:avLst/>
            <a:gdLst/>
            <a:ahLst/>
            <a:cxnLst/>
            <a:rect l="l" t="t" r="r" b="b"/>
            <a:pathLst>
              <a:path w="11982450" h="647700">
                <a:moveTo>
                  <a:pt x="0" y="0"/>
                </a:moveTo>
                <a:lnTo>
                  <a:pt x="11982450" y="0"/>
                </a:lnTo>
                <a:lnTo>
                  <a:pt x="1198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1520" y="871203"/>
            <a:ext cx="6492240" cy="89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6626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RESEARCH 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1779559"/>
            <a:ext cx="5522976" cy="88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7"/>
              </a:lnSpc>
            </a:pPr>
            <a:r>
              <a:rPr lang="en-US" sz="6697" b="1">
                <a:solidFill>
                  <a:srgbClr val="F273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REFERENCES</a:t>
            </a:r>
          </a:p>
        </p:txBody>
      </p:sp>
      <p:sp>
        <p:nvSpPr>
          <p:cNvPr id="6" name="Freeform 6"/>
          <p:cNvSpPr/>
          <p:nvPr/>
        </p:nvSpPr>
        <p:spPr>
          <a:xfrm>
            <a:off x="647700" y="278130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775" y="2781300"/>
            <a:ext cx="228600" cy="866775"/>
          </a:xfrm>
          <a:custGeom>
            <a:avLst/>
            <a:gdLst/>
            <a:ahLst/>
            <a:cxnLst/>
            <a:rect l="l" t="t" r="r" b="b"/>
            <a:pathLst>
              <a:path w="228600" h="866775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0432" y="2966466"/>
            <a:ext cx="629107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Google OR-Tools CP-SAT documentation &amp; constraint programming literature for scheduling</a:t>
            </a:r>
          </a:p>
        </p:txBody>
      </p:sp>
      <p:sp>
        <p:nvSpPr>
          <p:cNvPr id="9" name="Freeform 9"/>
          <p:cNvSpPr/>
          <p:nvPr/>
        </p:nvSpPr>
        <p:spPr>
          <a:xfrm>
            <a:off x="647700" y="363855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6775" y="3857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0432" y="3860673"/>
            <a:ext cx="577900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Indian Railways operating manuals and standard practices for block planning &amp; T/409 memos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7700" y="449580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6775" y="471487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70432" y="4735830"/>
            <a:ext cx="446227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Time-Distance (Marey) charts used in railway operations research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7700" y="535305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6775" y="55721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70432" y="5620512"/>
            <a:ext cx="468172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FOIS / COA system concepts for control room dashboards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7700" y="621030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66775" y="642937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70432" y="6505194"/>
            <a:ext cx="54132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Priority-based multi-objective optimization in transportation systems</a:t>
            </a:r>
          </a:p>
        </p:txBody>
      </p:sp>
      <p:sp>
        <p:nvSpPr>
          <p:cNvPr id="21" name="Freeform 21"/>
          <p:cNvSpPr/>
          <p:nvPr/>
        </p:nvSpPr>
        <p:spPr>
          <a:xfrm>
            <a:off x="647700" y="706755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66775" y="72866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70432" y="7368540"/>
            <a:ext cx="596188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Natural Language Interfaces for decision-support systems in critical infrastructure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7700" y="8143875"/>
            <a:ext cx="12639675" cy="1076325"/>
          </a:xfrm>
          <a:custGeom>
            <a:avLst/>
            <a:gdLst/>
            <a:ahLst/>
            <a:cxnLst/>
            <a:rect l="l" t="t" r="r" b="b"/>
            <a:pathLst>
              <a:path w="12639675" h="1076325">
                <a:moveTo>
                  <a:pt x="0" y="0"/>
                </a:moveTo>
                <a:lnTo>
                  <a:pt x="12639675" y="0"/>
                </a:lnTo>
                <a:lnTo>
                  <a:pt x="1263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66775" y="835342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70432" y="8377428"/>
            <a:ext cx="1088136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1">
                <a:solidFill>
                  <a:srgbClr val="002344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Prototype verified on North Central Railway (NCR) Kanpur Central – Jhansi Jn 220 km corridor with realistic train schedules, siding capacities and maintenance scenarios.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449550" y="209550"/>
            <a:ext cx="1104900" cy="1295400"/>
          </a:xfrm>
          <a:custGeom>
            <a:avLst/>
            <a:gdLst/>
            <a:ahLst/>
            <a:cxnLst/>
            <a:rect l="l" t="t" r="r" b="b"/>
            <a:pathLst>
              <a:path w="1104900" h="12954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6660368" y="585216"/>
            <a:ext cx="138988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63" b="1">
                <a:solidFill>
                  <a:srgbClr val="00234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SMART INDIA HACKATHON 2026</a:t>
            </a:r>
          </a:p>
        </p:txBody>
      </p:sp>
      <p:sp>
        <p:nvSpPr>
          <p:cNvPr id="29" name="Freeform 29"/>
          <p:cNvSpPr/>
          <p:nvPr/>
        </p:nvSpPr>
        <p:spPr>
          <a:xfrm>
            <a:off x="0" y="9210675"/>
            <a:ext cx="18288000" cy="1076325"/>
          </a:xfrm>
          <a:custGeom>
            <a:avLst/>
            <a:gdLst/>
            <a:ahLst/>
            <a:cxnLst/>
            <a:rect l="l" t="t" r="r" b="b"/>
            <a:pathLst>
              <a:path w="18288000" h="1076325">
                <a:moveTo>
                  <a:pt x="0" y="0"/>
                </a:moveTo>
                <a:lnTo>
                  <a:pt x="18288000" y="0"/>
                </a:lnTo>
                <a:lnTo>
                  <a:pt x="18288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706782" y="9539503"/>
            <a:ext cx="2432304" cy="42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800" b="1" dirty="0" err="1">
                <a:solidFill>
                  <a:srgbClr val="F273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ForceSense</a:t>
            </a:r>
            <a:endParaRPr lang="en-US" sz="2800" b="1" dirty="0">
              <a:solidFill>
                <a:srgbClr val="F2730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6743700" y="9210675"/>
            <a:ext cx="7629525" cy="1076325"/>
          </a:xfrm>
          <a:custGeom>
            <a:avLst/>
            <a:gdLst/>
            <a:ahLst/>
            <a:cxnLst/>
            <a:rect l="l" t="t" r="r" b="b"/>
            <a:pathLst>
              <a:path w="7629525" h="1076325">
                <a:moveTo>
                  <a:pt x="0" y="0"/>
                </a:moveTo>
                <a:lnTo>
                  <a:pt x="7629525" y="0"/>
                </a:lnTo>
                <a:lnTo>
                  <a:pt x="7629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363700" y="9001125"/>
            <a:ext cx="1752600" cy="1285875"/>
          </a:xfrm>
          <a:custGeom>
            <a:avLst/>
            <a:gdLst/>
            <a:ahLst/>
            <a:cxnLst/>
            <a:rect l="l" t="t" r="r" b="b"/>
            <a:pathLst>
              <a:path w="1752600" h="1285875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31520" y="9569686"/>
            <a:ext cx="1024128" cy="38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7FAA0EA-75D6-AFCB-FC06-6984D73D47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57879" y="3104462"/>
            <a:ext cx="8001000" cy="396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649</Words>
  <Application>Microsoft Office PowerPoint</Application>
  <PresentationFormat>Custom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Bricolage Grotesque</vt:lpstr>
      <vt:lpstr>Arial</vt:lpstr>
      <vt:lpstr>Bricolage Grotesque Bold</vt:lpstr>
      <vt:lpstr>Bricolage Grotesque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Rithwik Sai</cp:lastModifiedBy>
  <cp:revision>4</cp:revision>
  <dcterms:created xsi:type="dcterms:W3CDTF">2006-08-16T00:00:00Z</dcterms:created>
  <dcterms:modified xsi:type="dcterms:W3CDTF">2026-09-09T16:14:40Z</dcterms:modified>
  <dc:identifier>DAHUlrBq3w8</dc:identifier>
</cp:coreProperties>
</file>